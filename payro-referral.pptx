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6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029200" cy="50292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-1828800"/>
            <a:ext cx="4114800" cy="4114800"/>
          </a:xfrm>
          <a:prstGeom prst="ellipse">
            <a:avLst/>
          </a:prstGeom>
          <a:solidFill>
            <a:srgbClr val="A9E6BD">
              <a:alpha val="6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1463040" cy="320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1737360"/>
            <a:ext cx="6035040" cy="502920"/>
          </a:xfrm>
          <a:prstGeom prst="roundRect">
            <a:avLst>
              <a:gd name="adj" fmla="val 50909"/>
            </a:avLst>
          </a:prstGeom>
          <a:solidFill>
            <a:srgbClr val="3B7667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0" y="17373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פיצ'ר חדש — בלעדי ללקוחות Payro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חבר מביא חבר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A9E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מנוע גיוס חברתי חכם — ישירות מאפליקציית Payro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0292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300" spc="400" kern="0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הצגת מוצר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600" kern="0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האתגר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גיוס מסורתי — יקר, איטי ולא מדויק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46608" y="228600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2DD"/>
            </a:solidFill>
            <a:prstDash val="solid"/>
          </a:ln>
          <a:effectLst>
            <a:outerShdw sx="100000" sy="100000" kx="0" ky="0" algn="bl" rotWithShape="0" blurRad="228600" dist="76200" dir="5400000">
              <a:srgbClr val="1A2E35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6608" y="2286000"/>
            <a:ext cx="3383280" cy="9144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6" name="Text 4"/>
          <p:cNvSpPr/>
          <p:nvPr/>
        </p:nvSpPr>
        <p:spPr>
          <a:xfrm>
            <a:off x="1020928" y="2743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₪5,000–₪8,000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20928" y="3703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גיוס ממוצעת לעובד שעתי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4208" y="228600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2DD"/>
            </a:solidFill>
            <a:prstDash val="solid"/>
          </a:ln>
          <a:effectLst>
            <a:outerShdw sx="100000" sy="100000" kx="0" ky="0" algn="bl" rotWithShape="0" blurRad="228600" dist="76200" dir="5400000">
              <a:srgbClr val="1A2E35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04208" y="2286000"/>
            <a:ext cx="3383280" cy="914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4678528" y="2743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ED89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3–6 שבועות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78528" y="3703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זמן איוש ממוצע של משרה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61808" y="2286000"/>
            <a:ext cx="33832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2DD"/>
            </a:solidFill>
            <a:prstDash val="solid"/>
          </a:ln>
          <a:effectLst>
            <a:outerShdw sx="100000" sy="100000" kx="0" ky="0" algn="bl" rotWithShape="0" blurRad="228600" dist="76200" dir="5400000">
              <a:srgbClr val="1A2E35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1808" y="2286000"/>
            <a:ext cx="3383280" cy="914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8336128" y="274320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336128" y="3703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תחלופה שנתית בקמעונאות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5120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לוחות מודעות, פלטפורמות גיוס ומודעות פייסבוק — יקרים, לא ממוקדים, ובלי סינון חברתי.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55080"/>
            <a:ext cx="914400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600" kern="0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הפתרון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למה גיוס חברתי עובד טוב יותר?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829800" y="2542032"/>
            <a:ext cx="777240" cy="777240"/>
          </a:xfrm>
          <a:prstGeom prst="ellipse">
            <a:avLst/>
          </a:prstGeom>
          <a:solidFill>
            <a:srgbClr val="3B76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9820" y="27020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06240" y="246888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גיוס איכותי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206240" y="288036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מועמדים עם המלצה אישית — מתחברים מהר, נשארים יותר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829800" y="3730752"/>
            <a:ext cx="777240" cy="777240"/>
          </a:xfrm>
          <a:prstGeom prst="ellipse">
            <a:avLst/>
          </a:prstGeom>
          <a:solidFill>
            <a:srgbClr val="3B766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820" y="38907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06240" y="365760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מהיר ×4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206240" y="406908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סיכוי גיוס גבוה פי 4 ממועמד מפלטפורמה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9829800" y="4919472"/>
            <a:ext cx="777240" cy="777240"/>
          </a:xfrm>
          <a:prstGeom prst="ellipse">
            <a:avLst/>
          </a:prstGeom>
          <a:solidFill>
            <a:srgbClr val="3B766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820" y="507949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06240" y="4846320"/>
            <a:ext cx="54406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 חיסכון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206240" y="525780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חצי מעלות הגיוס המסורתי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731520" y="2377440"/>
            <a:ext cx="3246120" cy="3657600"/>
          </a:xfrm>
          <a:prstGeom prst="roundRect">
            <a:avLst>
              <a:gd name="adj" fmla="val 5634"/>
            </a:avLst>
          </a:prstGeom>
          <a:solidFill>
            <a:srgbClr val="E0F5DB"/>
          </a:solidFill>
          <a:ln/>
        </p:spPr>
      </p:sp>
      <p:sp>
        <p:nvSpPr>
          <p:cNvPr id="17" name="Text 12"/>
          <p:cNvSpPr/>
          <p:nvPr/>
        </p:nvSpPr>
        <p:spPr>
          <a:xfrm>
            <a:off x="731520" y="3017520"/>
            <a:ext cx="3246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11000" dirty="0"/>
          </a:p>
        </p:txBody>
      </p:sp>
      <p:sp>
        <p:nvSpPr>
          <p:cNvPr id="18" name="Text 13"/>
          <p:cNvSpPr/>
          <p:nvPr/>
        </p:nvSpPr>
        <p:spPr>
          <a:xfrm>
            <a:off x="1005840" y="484632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שיפור בשימור עובדים שהגיעו דרך הפניה</a:t>
            </a:r>
            <a:endParaRPr lang="en-US" sz="16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355080"/>
            <a:ext cx="914400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46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600" kern="0" dirty="0">
                <a:solidFill>
                  <a:srgbClr val="A9E6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מה העובד רואה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חוויית העובד באפליקציה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2377440" cy="4251960"/>
          </a:xfrm>
          <a:prstGeom prst="roundRect">
            <a:avLst>
              <a:gd name="adj" fmla="val 11538"/>
            </a:avLst>
          </a:prstGeom>
          <a:solidFill>
            <a:srgbClr val="0A1F23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0" dist="101600" dir="54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2267712"/>
            <a:ext cx="2231136" cy="4105656"/>
          </a:xfrm>
          <a:prstGeom prst="roundRect">
            <a:avLst>
              <a:gd name="adj" fmla="val 9016"/>
            </a:avLst>
          </a:prstGeom>
          <a:solidFill>
            <a:srgbClr val="F8F6F2"/>
          </a:solidFill>
          <a:ln/>
        </p:spPr>
      </p:sp>
      <p:sp>
        <p:nvSpPr>
          <p:cNvPr id="6" name="Shape 4"/>
          <p:cNvSpPr/>
          <p:nvPr/>
        </p:nvSpPr>
        <p:spPr>
          <a:xfrm>
            <a:off x="1444752" y="2267712"/>
            <a:ext cx="2231136" cy="594360"/>
          </a:xfrm>
          <a:prstGeom prst="rect">
            <a:avLst/>
          </a:prstGeom>
          <a:solidFill>
            <a:srgbClr val="3B76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359152"/>
            <a:ext cx="502920" cy="109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5420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משרות פתוחות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54480" y="2999232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5080">
            <a:solidFill>
              <a:srgbClr val="E5E2D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5920" y="3044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קופאי/ת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45920" y="320954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סניף תל אביב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627632" y="3383280"/>
            <a:ext cx="1865376" cy="201168"/>
          </a:xfrm>
          <a:prstGeom prst="roundRect">
            <a:avLst>
              <a:gd name="adj" fmla="val 22727"/>
            </a:avLst>
          </a:prstGeom>
          <a:solidFill>
            <a:srgbClr val="3B7667"/>
          </a:solidFill>
          <a:ln/>
        </p:spPr>
      </p:sp>
      <p:sp>
        <p:nvSpPr>
          <p:cNvPr id="13" name="Text 10"/>
          <p:cNvSpPr/>
          <p:nvPr/>
        </p:nvSpPr>
        <p:spPr>
          <a:xfrm>
            <a:off x="1627632" y="338328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שלח לחבר  ←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554480" y="3730752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5080">
            <a:solidFill>
              <a:srgbClr val="E5E2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45920" y="37764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סדרן/ית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645920" y="394106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סניף חיפה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627632" y="4114800"/>
            <a:ext cx="1865376" cy="201168"/>
          </a:xfrm>
          <a:prstGeom prst="roundRect">
            <a:avLst>
              <a:gd name="adj" fmla="val 22727"/>
            </a:avLst>
          </a:prstGeom>
          <a:solidFill>
            <a:srgbClr val="3B7667"/>
          </a:solidFill>
          <a:ln/>
        </p:spPr>
      </p:sp>
      <p:sp>
        <p:nvSpPr>
          <p:cNvPr id="18" name="Text 15"/>
          <p:cNvSpPr/>
          <p:nvPr/>
        </p:nvSpPr>
        <p:spPr>
          <a:xfrm>
            <a:off x="1627632" y="4114800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שלח לחבר  ←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554480" y="4489704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0F5DB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0" y="45628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ההפניות שלי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645920" y="480974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התקבלו  ·  1 בטיפול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444752" y="5961888"/>
            <a:ext cx="2231136" cy="411480"/>
          </a:xfrm>
          <a:prstGeom prst="rect">
            <a:avLst/>
          </a:prstGeom>
          <a:solidFill>
            <a:srgbClr val="00464E"/>
          </a:solidFill>
          <a:ln/>
        </p:spPr>
      </p:sp>
      <p:sp>
        <p:nvSpPr>
          <p:cNvPr id="23" name="Text 20"/>
          <p:cNvSpPr/>
          <p:nvPr/>
        </p:nvSpPr>
        <p:spPr>
          <a:xfrm>
            <a:off x="1444752" y="5961888"/>
            <a:ext cx="22311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הבונוסים שלי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1064240" y="2697480"/>
            <a:ext cx="502920" cy="502920"/>
          </a:xfrm>
          <a:prstGeom prst="ellipse">
            <a:avLst/>
          </a:prstGeom>
          <a:solidFill>
            <a:srgbClr val="A9E6BD"/>
          </a:solidFill>
          <a:ln/>
        </p:spPr>
      </p:sp>
      <p:sp>
        <p:nvSpPr>
          <p:cNvPr id="25" name="Text 22"/>
          <p:cNvSpPr/>
          <p:nvPr/>
        </p:nvSpPr>
        <p:spPr>
          <a:xfrm>
            <a:off x="110642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6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029200" y="265176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רואה משרות פתוחות בזמן אמת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11064240" y="3794760"/>
            <a:ext cx="502920" cy="502920"/>
          </a:xfrm>
          <a:prstGeom prst="ellipse">
            <a:avLst/>
          </a:prstGeom>
          <a:solidFill>
            <a:srgbClr val="A9E6BD"/>
          </a:solidFill>
          <a:ln/>
        </p:spPr>
      </p:sp>
      <p:sp>
        <p:nvSpPr>
          <p:cNvPr id="28" name="Text 25"/>
          <p:cNvSpPr/>
          <p:nvPr/>
        </p:nvSpPr>
        <p:spPr>
          <a:xfrm>
            <a:off x="110642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6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029200" y="374904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שולח לינק לחבר בלחיצה אחת — וואטסאפ, SMS, כל ערוץ</a:t>
            </a:r>
            <a:endParaRPr lang="en-US" sz="1900" dirty="0"/>
          </a:p>
        </p:txBody>
      </p:sp>
      <p:sp>
        <p:nvSpPr>
          <p:cNvPr id="30" name="Shape 27"/>
          <p:cNvSpPr/>
          <p:nvPr/>
        </p:nvSpPr>
        <p:spPr>
          <a:xfrm>
            <a:off x="11064240" y="4892040"/>
            <a:ext cx="502920" cy="502920"/>
          </a:xfrm>
          <a:prstGeom prst="ellipse">
            <a:avLst/>
          </a:prstGeom>
          <a:solidFill>
            <a:srgbClr val="A9E6BD"/>
          </a:solidFill>
          <a:ln/>
        </p:spPr>
      </p:sp>
      <p:sp>
        <p:nvSpPr>
          <p:cNvPr id="31" name="Text 28"/>
          <p:cNvSpPr/>
          <p:nvPr/>
        </p:nvSpPr>
        <p:spPr>
          <a:xfrm>
            <a:off x="1106424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46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029200" y="4846320"/>
            <a:ext cx="5897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עוקב אחרי סטטוס ההפניות והבונוסים</a:t>
            </a:r>
            <a:endParaRPr lang="en-US" sz="19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914400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600" kern="0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מה המעסיק רואה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דשבורד HR — הכל במקום אחד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863840" cy="402336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6350">
            <a:solidFill>
              <a:srgbClr val="E5E2DD"/>
            </a:solidFill>
            <a:prstDash val="solid"/>
          </a:ln>
          <a:effectLst>
            <a:outerShdw sx="100000" sy="100000" kx="0" ky="0" algn="bl" rotWithShape="0" blurRad="304800" dist="76200" dir="5400000">
              <a:srgbClr val="1A2E3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286000"/>
            <a:ext cx="7863840" cy="411480"/>
          </a:xfrm>
          <a:prstGeom prst="rect">
            <a:avLst/>
          </a:prstGeom>
          <a:solidFill>
            <a:srgbClr val="00464E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  ·  חבר מביא חבר — דשבורד ניהול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2971800"/>
            <a:ext cx="17259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5080">
            <a:solidFill>
              <a:srgbClr val="E5E2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971800"/>
            <a:ext cx="1725930" cy="36576"/>
          </a:xfrm>
          <a:prstGeom prst="rect">
            <a:avLst/>
          </a:prstGeom>
          <a:solidFill>
            <a:srgbClr val="3B766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63240"/>
            <a:ext cx="15430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15430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הפניות פעילות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8930" y="2971800"/>
            <a:ext cx="17259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5080">
            <a:solidFill>
              <a:srgbClr val="E5E2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68930" y="2971800"/>
            <a:ext cx="1725930" cy="36576"/>
          </a:xfrm>
          <a:prstGeom prst="rect">
            <a:avLst/>
          </a:prstGeom>
          <a:solidFill>
            <a:srgbClr val="97B9FF"/>
          </a:solidFill>
          <a:ln/>
        </p:spPr>
      </p:sp>
      <p:sp>
        <p:nvSpPr>
          <p:cNvPr id="13" name="Text 11"/>
          <p:cNvSpPr/>
          <p:nvPr/>
        </p:nvSpPr>
        <p:spPr>
          <a:xfrm>
            <a:off x="2960370" y="3063240"/>
            <a:ext cx="15430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60370" y="3429000"/>
            <a:ext cx="15430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ראיון נקבע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2020" y="2971800"/>
            <a:ext cx="17259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5080">
            <a:solidFill>
              <a:srgbClr val="E5E2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32020" y="2971800"/>
            <a:ext cx="172593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4823460" y="3063240"/>
            <a:ext cx="15430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23460" y="3429000"/>
            <a:ext cx="15430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התקבלו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95110" y="2971800"/>
            <a:ext cx="172593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5080">
            <a:solidFill>
              <a:srgbClr val="E5E2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5110" y="2971800"/>
            <a:ext cx="172593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6686550" y="3063240"/>
            <a:ext cx="154305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86550" y="3429000"/>
            <a:ext cx="154305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נדחו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05840" y="3977640"/>
            <a:ext cx="7315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5080">
            <a:solidFill>
              <a:srgbClr val="E5E2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977640"/>
            <a:ext cx="7315200" cy="365760"/>
          </a:xfrm>
          <a:prstGeom prst="rect">
            <a:avLst/>
          </a:prstGeom>
          <a:solidFill>
            <a:srgbClr val="EEF3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9776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מועמד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38144" y="397764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מפנה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397764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משרה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95744" y="3977640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סטטוס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4343400"/>
            <a:ext cx="2157984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יוסי כהן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38144" y="4343400"/>
            <a:ext cx="1865376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דנה לוי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4343400"/>
            <a:ext cx="1426464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קופאי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095744" y="442722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7095744" y="4427220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התקבל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05840" y="4785360"/>
            <a:ext cx="7315200" cy="441960"/>
          </a:xfrm>
          <a:prstGeom prst="rect">
            <a:avLst/>
          </a:prstGeom>
          <a:solidFill>
            <a:srgbClr val="F8FAFB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" y="4785360"/>
            <a:ext cx="2157984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מיכל אברהם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38144" y="4785360"/>
            <a:ext cx="1865376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רון שמש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4785360"/>
            <a:ext cx="1426464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סדרן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95744" y="486918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/>
        </p:spPr>
      </p:sp>
      <p:sp>
        <p:nvSpPr>
          <p:cNvPr id="39" name="Text 37"/>
          <p:cNvSpPr/>
          <p:nvPr/>
        </p:nvSpPr>
        <p:spPr>
          <a:xfrm>
            <a:off x="7095744" y="4869180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בתהליך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" y="5227320"/>
            <a:ext cx="2157984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אורי דוד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38144" y="5227320"/>
            <a:ext cx="1865376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שרה גולן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0" y="5227320"/>
            <a:ext cx="1426464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מעדנייה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095744" y="5311140"/>
            <a:ext cx="1042416" cy="27432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44" name="Text 42"/>
          <p:cNvSpPr/>
          <p:nvPr/>
        </p:nvSpPr>
        <p:spPr>
          <a:xfrm>
            <a:off x="7095744" y="5311140"/>
            <a:ext cx="1042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בבדיקה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05840" y="58521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3B7667"/>
          </a:solidFill>
          <a:ln w="7620">
            <a:solidFill>
              <a:srgbClr val="3B766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852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ייצוא דוח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0" y="58521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5E2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5852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הוספת משרה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566160" y="5852160"/>
            <a:ext cx="118872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E5E2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58521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הגדרות בונוס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1430000" y="2816352"/>
            <a:ext cx="164592" cy="164592"/>
          </a:xfrm>
          <a:prstGeom prst="ellipse">
            <a:avLst/>
          </a:prstGeom>
          <a:solidFill>
            <a:srgbClr val="3B7667"/>
          </a:solidFill>
          <a:ln/>
        </p:spPr>
      </p:sp>
      <p:sp>
        <p:nvSpPr>
          <p:cNvPr id="52" name="Text 50"/>
          <p:cNvSpPr/>
          <p:nvPr/>
        </p:nvSpPr>
        <p:spPr>
          <a:xfrm>
            <a:off x="8869680" y="265176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כל המשרות והמועמדים במקום אחד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11430000" y="4005072"/>
            <a:ext cx="164592" cy="164592"/>
          </a:xfrm>
          <a:prstGeom prst="ellipse">
            <a:avLst/>
          </a:prstGeom>
          <a:solidFill>
            <a:srgbClr val="3B7667"/>
          </a:solidFill>
          <a:ln/>
        </p:spPr>
      </p:sp>
      <p:sp>
        <p:nvSpPr>
          <p:cNvPr id="54" name="Text 52"/>
          <p:cNvSpPr/>
          <p:nvPr/>
        </p:nvSpPr>
        <p:spPr>
          <a:xfrm>
            <a:off x="8869680" y="38404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מעקב real-time אחרי הפניות, קבלות ודחיות</a:t>
            </a:r>
            <a:endParaRPr lang="en-US" sz="1700" dirty="0"/>
          </a:p>
        </p:txBody>
      </p:sp>
      <p:sp>
        <p:nvSpPr>
          <p:cNvPr id="55" name="Shape 53"/>
          <p:cNvSpPr/>
          <p:nvPr/>
        </p:nvSpPr>
        <p:spPr>
          <a:xfrm>
            <a:off x="11430000" y="5193792"/>
            <a:ext cx="164592" cy="164592"/>
          </a:xfrm>
          <a:prstGeom prst="ellipse">
            <a:avLst/>
          </a:prstGeom>
          <a:solidFill>
            <a:srgbClr val="3B7667"/>
          </a:solidFill>
          <a:ln/>
        </p:spPr>
      </p:sp>
      <p:sp>
        <p:nvSpPr>
          <p:cNvPr id="56" name="Text 54"/>
          <p:cNvSpPr/>
          <p:nvPr/>
        </p:nvSpPr>
        <p:spPr>
          <a:xfrm>
            <a:off x="8869680" y="502920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ייצוא דוחות ובקרה מלאה על בונוסים</a:t>
            </a:r>
            <a:endParaRPr lang="en-US" sz="1700" dirty="0"/>
          </a:p>
        </p:txBody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55080"/>
            <a:ext cx="914400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F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הטמעה תוך 10 דקות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צורך בפיתוח מצדכם — Payro מטפלת בהכל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53248" y="2743200"/>
            <a:ext cx="310896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00464E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439248" y="2834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A9E6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9204808" y="3383280"/>
            <a:ext cx="1005840" cy="1005840"/>
          </a:xfrm>
          <a:prstGeom prst="ellipse">
            <a:avLst/>
          </a:prstGeom>
          <a:solidFill>
            <a:srgbClr val="3B76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3408" y="36118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36128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הגדרה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427568" y="4937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בוחרים משרות, קובעים בונוס, מעלים לוגו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96048" y="4206240"/>
            <a:ext cx="411480" cy="0"/>
          </a:xfrm>
          <a:prstGeom prst="line">
            <a:avLst/>
          </a:prstGeom>
          <a:noFill/>
          <a:ln w="31750">
            <a:solidFill>
              <a:srgbClr val="3B7667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541368" y="2743200"/>
            <a:ext cx="310896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00464E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27368" y="2834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A9E6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Shape 10"/>
          <p:cNvSpPr/>
          <p:nvPr/>
        </p:nvSpPr>
        <p:spPr>
          <a:xfrm>
            <a:off x="5592928" y="3383280"/>
            <a:ext cx="1005840" cy="1005840"/>
          </a:xfrm>
          <a:prstGeom prst="ellipse">
            <a:avLst/>
          </a:prstGeom>
          <a:solidFill>
            <a:srgbClr val="3B766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36118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24248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השקה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815688" y="4937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העובדים רואים את המשרות באפליקציה מיד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084168" y="4206240"/>
            <a:ext cx="411480" cy="0"/>
          </a:xfrm>
          <a:prstGeom prst="line">
            <a:avLst/>
          </a:prstGeom>
          <a:noFill/>
          <a:ln w="31750">
            <a:solidFill>
              <a:srgbClr val="3B7667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929488" y="2743200"/>
            <a:ext cx="310896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0" dist="76200" dir="5400000">
              <a:srgbClr val="00464E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215488" y="2834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A9E6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400" dirty="0"/>
          </a:p>
        </p:txBody>
      </p:sp>
      <p:sp>
        <p:nvSpPr>
          <p:cNvPr id="20" name="Shape 16"/>
          <p:cNvSpPr/>
          <p:nvPr/>
        </p:nvSpPr>
        <p:spPr>
          <a:xfrm>
            <a:off x="1981048" y="3383280"/>
            <a:ext cx="1005840" cy="1005840"/>
          </a:xfrm>
          <a:prstGeom prst="ellipse">
            <a:avLst/>
          </a:prstGeom>
          <a:solidFill>
            <a:srgbClr val="3B766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48" y="361188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2368" y="4526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ניהול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1203808" y="4937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D3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עוקבים אחרי הפניות בדשבורד ומקבלים דוחות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2286000" y="5989320"/>
            <a:ext cx="7589520" cy="502920"/>
          </a:xfrm>
          <a:prstGeom prst="roundRect">
            <a:avLst>
              <a:gd name="adj" fmla="val 50909"/>
            </a:avLst>
          </a:prstGeom>
          <a:solidFill>
            <a:srgbClr val="3B7667"/>
          </a:solidFill>
          <a:ln/>
        </p:spPr>
      </p:sp>
      <p:sp>
        <p:nvSpPr>
          <p:cNvPr id="25" name="Text 20"/>
          <p:cNvSpPr/>
          <p:nvPr/>
        </p:nvSpPr>
        <p:spPr>
          <a:xfrm>
            <a:off x="2286000" y="59893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 מטפלת בפיתוח, עיצוב, הטמעה ותמיכה שוטפת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spc="600" kern="0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תמחור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1A2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מחיר ותנאים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352648" y="2103120"/>
            <a:ext cx="548640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31750">
            <a:solidFill>
              <a:srgbClr val="3B7667"/>
            </a:solidFill>
            <a:prstDash val="solid"/>
          </a:ln>
          <a:effectLst>
            <a:outerShdw sx="100000" sy="100000" kx="0" ky="0" algn="bl" rotWithShape="0" blurRad="406400" dist="127000" dir="5400000">
              <a:srgbClr val="3B766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10048" y="2377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0F5DB"/>
          </a:solidFill>
          <a:ln/>
        </p:spPr>
      </p:sp>
      <p:sp>
        <p:nvSpPr>
          <p:cNvPr id="6" name="Text 4"/>
          <p:cNvSpPr/>
          <p:nvPr/>
        </p:nvSpPr>
        <p:spPr>
          <a:xfrm>
            <a:off x="5410048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3B76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תשלום חודשי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52648" y="28346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₪2,500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3352648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לחודש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01288" y="4389120"/>
            <a:ext cx="4389120" cy="0"/>
          </a:xfrm>
          <a:prstGeom prst="line">
            <a:avLst/>
          </a:prstGeom>
          <a:noFill/>
          <a:ln w="12700">
            <a:solidFill>
              <a:srgbClr val="E5E2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2648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סה"כ לפיילוט (3 חודשים): </a:t>
            </a:r>
            <a:pPr rtl="1" algn="ctr" indent="0" marL="0">
              <a:buNone/>
            </a:pPr>
            <a:r>
              <a:rPr lang="en-US" sz="1800" b="1" dirty="0">
                <a:solidFill>
                  <a:srgbClr val="3B76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₪7,500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17920" y="5532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כולל עד 20 משרות פעילות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5321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כל משרה נוספת: ₪50/חודש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58247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10% הנחה בתשלום מראש (₪6,750 במקום ₪7,500)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8247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לאחר הפיילוט — הארכה לשנה בתנאים מוסכמים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117336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כולל: פיתוח, עיצוב, הטמעה ותמיכה שוטפת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55080"/>
            <a:ext cx="914400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46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114800" cy="4114800"/>
          </a:xfrm>
          <a:prstGeom prst="ellipse">
            <a:avLst/>
          </a:prstGeom>
          <a:solidFill>
            <a:srgbClr val="A9E6BD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05695" y="4572000"/>
            <a:ext cx="4572000" cy="45720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1188720"/>
            <a:ext cx="219456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מוכנים להתחיל?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731520" y="33832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A9E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הפיילוט הראשון live תוך 10 דקות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45720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sagim@payro.io     |     www.payro.io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58521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i="1" spc="200" kern="0" dirty="0">
                <a:solidFill>
                  <a:srgbClr val="A9E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 — הפתרון הפשוט לאתגר כח האדם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Payro · חבר מביא חבר</dc:title>
  <dc:subject>PptxGenJS Presentation</dc:subject>
  <dc:creator>Payro</dc:creator>
  <cp:lastModifiedBy>Payro</cp:lastModifiedBy>
  <cp:revision>1</cp:revision>
  <dcterms:created xsi:type="dcterms:W3CDTF">2026-05-11T10:08:59Z</dcterms:created>
  <dcterms:modified xsi:type="dcterms:W3CDTF">2026-05-11T10:08:59Z</dcterms:modified>
</cp:coreProperties>
</file>